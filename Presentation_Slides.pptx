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FFFFF"/>
                </a:solidFill>
                <a:latin typeface="Calibri"/>
              </a:defRPr>
            </a:pPr>
            <a:r>
              <a:t>HYBRID SHIELD</a:t>
            </a:r>
          </a:p>
          <a:p>
            <a:pPr>
              <a:spcBef>
                <a:spcPts val="1200"/>
              </a:spcBef>
              <a:defRPr sz="2000">
                <a:solidFill>
                  <a:srgbClr val="F5F7FA"/>
                </a:solidFill>
                <a:latin typeface="Calibri"/>
              </a:defRPr>
            </a:pPr>
            <a:r>
              <a:t>A Modern Cryptographic Suite for Secure File Encryption, Digital Signatures, and MFA Vaulting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980B9"/>
                </a:solidFill>
                <a:latin typeface="Calibri"/>
              </a:defRPr>
            </a:pPr>
            <a:r>
              <a:t>Information Security Final Project Presentation</a:t>
            </a:r>
          </a:p>
          <a:p>
            <a:pPr>
              <a:spcBef>
                <a:spcPts val="400"/>
              </a:spcBef>
              <a:defRPr sz="1200">
                <a:solidFill>
                  <a:srgbClr val="F5F7FA"/>
                </a:solidFill>
                <a:latin typeface="Calibri"/>
              </a:defRPr>
            </a:pPr>
            <a:r>
              <a:t>Authors: Course Project Group  |  Department of Computer Science &amp; Information Security  |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A5276"/>
                </a:solidFill>
                <a:latin typeface="Calibri"/>
              </a:defRPr>
            </a:pPr>
            <a:r>
              <a:t>Introduction &amp; Security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A5276"/>
                </a:solidFill>
                <a:latin typeface="Calibri"/>
              </a:defRPr>
            </a:pPr>
            <a:r>
              <a:t>The Challenge of Modern Data Transmission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>
                <a:solidFill>
                  <a:srgbClr val="2980B9"/>
                </a:solidFill>
              </a:rPr>
              <a:t>Confidentiality Bottlenecks: </a:t>
            </a:r>
            <a:r>
              <a:rPr>
                <a:solidFill>
                  <a:srgbClr val="282828"/>
                </a:solidFill>
              </a:rPr>
              <a:t>How do we store/send big files securely without computational exhaust?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>
                <a:solidFill>
                  <a:srgbClr val="2980B9"/>
                </a:solidFill>
              </a:rPr>
              <a:t>Key Distribution Dilemma: </a:t>
            </a:r>
            <a:r>
              <a:rPr>
                <a:solidFill>
                  <a:srgbClr val="282828"/>
                </a:solidFill>
              </a:rPr>
              <a:t>Symmetric algorithms are fast but require a pre-shared key. How do we share keys safely over unsecure channels?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>
                <a:solidFill>
                  <a:srgbClr val="2980B9"/>
                </a:solidFill>
              </a:rPr>
              <a:t>Data Tampering Risk: </a:t>
            </a:r>
            <a:r>
              <a:rPr>
                <a:solidFill>
                  <a:srgbClr val="282828"/>
                </a:solidFill>
              </a:rPr>
              <a:t>Encryption guarantees confidentiality but NOT integrity. Bit-flipping attacks can alter files in transit undetected.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>
                <a:solidFill>
                  <a:srgbClr val="2980B9"/>
                </a:solidFill>
              </a:rPr>
              <a:t>Non-Repudiation Need: </a:t>
            </a:r>
            <a:r>
              <a:rPr>
                <a:solidFill>
                  <a:srgbClr val="282828"/>
                </a:solidFill>
              </a:rPr>
              <a:t>We must prove identity and prevent authors from denying their signature.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400"/>
              </a:spcAft>
              <a:defRPr sz="1600" b="1">
                <a:solidFill>
                  <a:srgbClr val="1A5276"/>
                </a:solidFill>
                <a:latin typeface="Calibri"/>
              </a:defRPr>
            </a:pPr>
            <a:r>
              <a:t>CORE PARADIGMS RESOLVED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>
                <a:solidFill>
                  <a:srgbClr val="27AE60"/>
                </a:solidFill>
              </a:rPr>
              <a:t>✔ CONFIDENTIALITY
</a:t>
            </a:r>
            <a:r>
              <a:rPr>
                <a:solidFill>
                  <a:srgbClr val="282828"/>
                </a:solidFill>
              </a:rPr>
              <a:t>AES-256 Symmetric Key locks bulk data.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>
                <a:solidFill>
                  <a:srgbClr val="27AE60"/>
                </a:solidFill>
              </a:rPr>
              <a:t>✔ KEY ENCAPSULATION
</a:t>
            </a:r>
            <a:r>
              <a:rPr>
                <a:solidFill>
                  <a:srgbClr val="282828"/>
                </a:solidFill>
              </a:rPr>
              <a:t>RSA-2048 Asymmetric Key wraps the AES session key.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>
                <a:solidFill>
                  <a:srgbClr val="27AE60"/>
                </a:solidFill>
              </a:rPr>
              <a:t>✔ DATA INTEGRITY
</a:t>
            </a:r>
            <a:r>
              <a:rPr>
                <a:solidFill>
                  <a:srgbClr val="282828"/>
                </a:solidFill>
              </a:rPr>
              <a:t>AES-GCM Authenticated Tag checks for tampering.</a:t>
            </a:r>
          </a:p>
          <a:p>
            <a:pPr>
              <a:spcAft>
                <a:spcPts val="800"/>
              </a:spcAft>
              <a:defRPr sz="1300">
                <a:latin typeface="Calibri"/>
              </a:defRPr>
            </a:pPr>
            <a:r>
              <a:rPr>
                <a:solidFill>
                  <a:srgbClr val="27AE60"/>
                </a:solidFill>
              </a:rPr>
              <a:t>✔ NON-REPUDIATION
</a:t>
            </a:r>
            <a:r>
              <a:rPr>
                <a:solidFill>
                  <a:srgbClr val="282828"/>
                </a:solidFill>
              </a:rPr>
              <a:t>RSA-PSS Companion Digital Signatures verify author.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A5276"/>
                </a:solidFill>
                <a:latin typeface="Calibri"/>
              </a:defRPr>
            </a:pPr>
            <a:r>
              <a:t>Classical Cryptography Lab (Historical Context)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05050"/>
                </a:solidFill>
              </a:defRPr>
            </a:pPr>
            <a:r>
              <a:t>Why Modern Encryption (like AES) was Developed - Explored through the Classical Ciphers Lab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 bIns="274320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1A5276"/>
                </a:solidFill>
                <a:latin typeface="Calibri"/>
              </a:defRPr>
            </a:pPr>
            <a:r>
              <a:t>1. Caesar Cipher (Monoalphabetic Substitution)</a:t>
            </a:r>
          </a:p>
          <a:p>
            <a:pPr>
              <a:spcAft>
                <a:spcPts val="600"/>
              </a:spcAft>
              <a:defRPr sz="1200"/>
            </a:pPr>
            <a:r>
              <a:rPr>
                <a:solidFill>
                  <a:srgbClr val="2980B9"/>
                </a:solidFill>
              </a:rPr>
              <a:t>Mathematical Formulation: </a:t>
            </a:r>
            <a:r>
              <a:rPr>
                <a:solidFill>
                  <a:srgbClr val="282828"/>
                </a:solidFill>
              </a:rPr>
              <a:t>E_k(p) = (p + k) mod 26</a:t>
            </a:r>
          </a:p>
          <a:p>
            <a:pPr>
              <a:spcAft>
                <a:spcPts val="600"/>
              </a:spcAft>
              <a:defRPr sz="1200"/>
            </a:pPr>
            <a:r>
              <a:rPr>
                <a:solidFill>
                  <a:srgbClr val="2980B9"/>
                </a:solidFill>
              </a:rPr>
              <a:t>Key Space Vulnerability: </a:t>
            </a:r>
            <a:r>
              <a:rPr>
                <a:solidFill>
                  <a:srgbClr val="282828"/>
                </a:solidFill>
              </a:rPr>
              <a:t>Only 25 possible shifts. Easily cracked by brute-force searches inside milliseconds.</a:t>
            </a:r>
          </a:p>
          <a:p>
            <a:pPr>
              <a:spcAft>
                <a:spcPts val="600"/>
              </a:spcAft>
              <a:defRPr sz="1200"/>
            </a:pPr>
            <a:r>
              <a:rPr>
                <a:solidFill>
                  <a:srgbClr val="2980B9"/>
                </a:solidFill>
              </a:rPr>
              <a:t>Demonstrated in Lab: </a:t>
            </a:r>
            <a:r>
              <a:rPr>
                <a:solidFill>
                  <a:srgbClr val="282828"/>
                </a:solidFill>
              </a:rPr>
              <a:t>A built-in interactive cracker that cycles all 25 shifts to reveal plaintexts.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 bIns="274320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1A5276"/>
                </a:solidFill>
                <a:latin typeface="Calibri"/>
              </a:defRPr>
            </a:pPr>
            <a:r>
              <a:t>2. Vigenère Cipher (Polyalphabetic Substitution)</a:t>
            </a:r>
          </a:p>
          <a:p>
            <a:pPr>
              <a:spcAft>
                <a:spcPts val="600"/>
              </a:spcAft>
              <a:defRPr sz="1200"/>
            </a:pPr>
            <a:r>
              <a:rPr>
                <a:solidFill>
                  <a:srgbClr val="2980B9"/>
                </a:solidFill>
              </a:rPr>
              <a:t>Mathematical Formulation: </a:t>
            </a:r>
            <a:r>
              <a:rPr>
                <a:solidFill>
                  <a:srgbClr val="282828"/>
                </a:solidFill>
              </a:rPr>
              <a:t>E_K(p_i) = (p_i + k_(i mod L)) mod 26</a:t>
            </a:r>
          </a:p>
          <a:p>
            <a:pPr>
              <a:spcAft>
                <a:spcPts val="600"/>
              </a:spcAft>
              <a:defRPr sz="1200"/>
            </a:pPr>
            <a:r>
              <a:rPr>
                <a:solidFill>
                  <a:srgbClr val="2980B9"/>
                </a:solidFill>
              </a:rPr>
              <a:t>Algorithm Mechanics: </a:t>
            </a:r>
            <a:r>
              <a:rPr>
                <a:solidFill>
                  <a:srgbClr val="282828"/>
                </a:solidFill>
              </a:rPr>
              <a:t>Uses keyword letters to vary shift values, smoothing out raw character distributions.</a:t>
            </a:r>
          </a:p>
          <a:p>
            <a:pPr>
              <a:spcAft>
                <a:spcPts val="600"/>
              </a:spcAft>
              <a:defRPr sz="1200"/>
            </a:pPr>
            <a:r>
              <a:rPr>
                <a:solidFill>
                  <a:srgbClr val="2980B9"/>
                </a:solidFill>
              </a:rPr>
              <a:t>Security Vuln: </a:t>
            </a:r>
            <a:r>
              <a:rPr>
                <a:solidFill>
                  <a:srgbClr val="282828"/>
                </a:solidFill>
              </a:rPr>
              <a:t>Susceptible to Kasiski examination and index of coincidence calculations, revealing key length and permitting isolated frequency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A5276"/>
                </a:solidFill>
                <a:latin typeface="Calibri"/>
              </a:defRPr>
            </a:pPr>
            <a:r>
              <a:t>Core Engine: RSA-2048 + AES-256 GCM Hybrid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A5276"/>
                </a:solidFill>
                <a:latin typeface="Calibri"/>
              </a:defRPr>
            </a:pPr>
            <a:r>
              <a:t>Why AES-256-GCM + RSA-2048?</a:t>
            </a:r>
          </a:p>
          <a:p>
            <a:pPr>
              <a:spcAft>
                <a:spcPts val="800"/>
              </a:spcAft>
              <a:defRPr sz="1300"/>
            </a:pPr>
            <a:r>
              <a:rPr>
                <a:solidFill>
                  <a:srgbClr val="2980B9"/>
                </a:solidFill>
              </a:rPr>
              <a:t>AES-256 GCM (Symmetric Mode): </a:t>
            </a:r>
            <a:r>
              <a:rPr>
                <a:solidFill>
                  <a:srgbClr val="282828"/>
                </a:solidFill>
              </a:rPr>
              <a:t>Used for bulk file encryption. High-speed performance with authenticated Galois GCM. Automatically detects data corruption through dynamic tag checks.</a:t>
            </a:r>
          </a:p>
          <a:p>
            <a:pPr>
              <a:spcAft>
                <a:spcPts val="800"/>
              </a:spcAft>
              <a:defRPr sz="1300"/>
            </a:pPr>
            <a:r>
              <a:rPr>
                <a:solidFill>
                  <a:srgbClr val="2980B9"/>
                </a:solidFill>
              </a:rPr>
              <a:t>RSA-2048 (Asymmetric Key Encapsulation): </a:t>
            </a:r>
            <a:r>
              <a:rPr>
                <a:solidFill>
                  <a:srgbClr val="282828"/>
                </a:solidFill>
              </a:rPr>
              <a:t>Solves key distribution. Securely encrypts the 256-bit AES session key using the receiver's public key (OAEP padding).</a:t>
            </a:r>
          </a:p>
          <a:p>
            <a:pPr>
              <a:spcAft>
                <a:spcPts val="800"/>
              </a:spcAft>
              <a:defRPr sz="1300"/>
            </a:pPr>
            <a:r>
              <a:rPr>
                <a:solidFill>
                  <a:srgbClr val="2980B9"/>
                </a:solidFill>
              </a:rPr>
              <a:t>Optimal Asymmetric Encryption Padding (OAEP): </a:t>
            </a:r>
            <a:r>
              <a:rPr>
                <a:solidFill>
                  <a:srgbClr val="282828"/>
                </a:solidFill>
              </a:rPr>
              <a:t>Enforces plaintext-awareness, neutralizing adaptive chosen-ciphertext attacks (CCA2).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 bIns="274320" wrap="square"/>
          <a:lstStyle/>
          <a:p>
            <a:pPr algn="ctr">
              <a:spcAft>
                <a:spcPts val="1400"/>
              </a:spcAft>
              <a:defRPr sz="1600" b="1">
                <a:solidFill>
                  <a:srgbClr val="1A5276"/>
                </a:solidFill>
                <a:latin typeface="Calibri"/>
              </a:defRPr>
            </a:pPr>
            <a:r>
              <a:t>HYBRID DATA TRANSITION LIFECYCLE</a:t>
            </a:r>
          </a:p>
          <a:p>
            <a:pPr>
              <a:spcAft>
                <a:spcPts val="600"/>
              </a:spcAft>
              <a:defRPr sz="1200"/>
            </a:pPr>
            <a:r>
              <a:rPr>
                <a:solidFill>
                  <a:srgbClr val="27AE60"/>
                </a:solidFill>
              </a:rPr>
              <a:t>1. Dynamic Session Generation: </a:t>
            </a:r>
            <a:r>
              <a:rPr>
                <a:solidFill>
                  <a:srgbClr val="282828"/>
                </a:solidFill>
              </a:rPr>
              <a:t>CSPRNG creates a cryptographically secure, one-time 256-bit AES key.</a:t>
            </a:r>
          </a:p>
          <a:p>
            <a:pPr>
              <a:spcAft>
                <a:spcPts val="600"/>
              </a:spcAft>
              <a:defRPr sz="1200"/>
            </a:pPr>
            <a:r>
              <a:rPr>
                <a:solidFill>
                  <a:srgbClr val="27AE60"/>
                </a:solidFill>
              </a:rPr>
              <a:t>2. Authenticated Symmetric Lock: </a:t>
            </a:r>
            <a:r>
              <a:rPr>
                <a:solidFill>
                  <a:srgbClr val="282828"/>
                </a:solidFill>
              </a:rPr>
              <a:t>Bulk plaintext is encrypted via GCM, producing the ciphertext and 16-byte tag.</a:t>
            </a:r>
          </a:p>
          <a:p>
            <a:pPr>
              <a:spcAft>
                <a:spcPts val="600"/>
              </a:spcAft>
              <a:defRPr sz="1200"/>
            </a:pPr>
            <a:r>
              <a:rPr>
                <a:solidFill>
                  <a:srgbClr val="27AE60"/>
                </a:solidFill>
              </a:rPr>
              <a:t>3. Asymmetric Wrapper: </a:t>
            </a:r>
            <a:r>
              <a:rPr>
                <a:solidFill>
                  <a:srgbClr val="282828"/>
                </a:solidFill>
              </a:rPr>
              <a:t>RSA-2048 with SHA-256 OAEP padding wraps the AES key in the public key.</a:t>
            </a:r>
          </a:p>
          <a:p>
            <a:pPr>
              <a:spcAft>
                <a:spcPts val="600"/>
              </a:spcAft>
              <a:defRPr sz="1200"/>
            </a:pPr>
            <a:r>
              <a:rPr>
                <a:solidFill>
                  <a:srgbClr val="27AE60"/>
                </a:solidFill>
              </a:rPr>
              <a:t>4. Package Assembly: </a:t>
            </a:r>
            <a:r>
              <a:rPr>
                <a:solidFill>
                  <a:srgbClr val="282828"/>
                </a:solidFill>
              </a:rPr>
              <a:t>Encapsulated key, nonce, and ciphertext are written into a single binary envelope.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A5276"/>
                </a:solidFill>
                <a:latin typeface="Calibri"/>
              </a:defRPr>
            </a:pPr>
            <a:r>
              <a:t>The .hyb Custom Binary Envelope Packaging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A5276"/>
                </a:solidFill>
                <a:latin typeface="Calibri"/>
              </a:defRPr>
            </a:pPr>
            <a:r>
              <a:t>Binary Envelope Specification</a:t>
            </a:r>
          </a:p>
          <a:p>
            <a:pPr>
              <a:spcAft>
                <a:spcPts val="800"/>
              </a:spcAft>
              <a:defRPr sz="1300"/>
            </a:pPr>
            <a:r>
              <a:rPr>
                <a:solidFill>
                  <a:srgbClr val="2980B9"/>
                </a:solidFill>
              </a:rPr>
              <a:t>Interoperable Wrapper Layout: </a:t>
            </a:r>
            <a:r>
              <a:rPr>
                <a:solidFill>
                  <a:srgbClr val="282828"/>
                </a:solidFill>
              </a:rPr>
              <a:t>To decrypt seamlessly, the system packages both asymmetric components and symmetric payloads into a single `.hyb` binary packet.</a:t>
            </a:r>
          </a:p>
          <a:p>
            <a:pPr>
              <a:spcAft>
                <a:spcPts val="800"/>
              </a:spcAft>
              <a:defRPr sz="1300"/>
            </a:pPr>
            <a:r>
              <a:rPr>
                <a:solidFill>
                  <a:srgbClr val="2980B9"/>
                </a:solidFill>
              </a:rPr>
              <a:t>Magic Bytes validation: </a:t>
            </a:r>
            <a:r>
              <a:rPr>
                <a:solidFill>
                  <a:srgbClr val="282828"/>
                </a:solidFill>
              </a:rPr>
              <a:t>Starts with 6 bytes (`HYBV01`) to protect from processing invalid files.</a:t>
            </a:r>
          </a:p>
          <a:p>
            <a:pPr>
              <a:spcAft>
                <a:spcPts val="800"/>
              </a:spcAft>
              <a:defRPr sz="1300"/>
            </a:pPr>
            <a:r>
              <a:rPr>
                <a:solidFill>
                  <a:srgbClr val="2980B9"/>
                </a:solidFill>
              </a:rPr>
              <a:t>Key Length Header: </a:t>
            </a:r>
            <a:r>
              <a:rPr>
                <a:solidFill>
                  <a:srgbClr val="282828"/>
                </a:solidFill>
              </a:rPr>
              <a:t>A 4-byte big-endian unsigned integer specifies the exact length of the encrypted key block.</a:t>
            </a:r>
          </a:p>
          <a:p>
            <a:pPr>
              <a:spcAft>
                <a:spcPts val="800"/>
              </a:spcAft>
              <a:defRPr sz="1300"/>
            </a:pPr>
            <a:r>
              <a:rPr>
                <a:solidFill>
                  <a:srgbClr val="2980B9"/>
                </a:solidFill>
              </a:rPr>
              <a:t>Nonce Padding: </a:t>
            </a:r>
            <a:r>
              <a:rPr>
                <a:solidFill>
                  <a:srgbClr val="282828"/>
                </a:solidFill>
              </a:rPr>
              <a:t>A fixed 12-byte block contains the exact IV, removing the need for a dynamic length field.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645920"/>
          <a:ext cx="53035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91840"/>
              </a:tblGrid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Field Segment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Size / Type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Magic Bytes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6 Bytes (ASCII)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Encrypted Key Length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4 Bytes (Big-Endian)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Encrypted Session Key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L Bytes (Binary)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Nonce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12 Bytes (Binary)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Ciphertext payload + Tag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Variable (Binary)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A5276"/>
                </a:solidFill>
                <a:latin typeface="Calibri"/>
              </a:defRPr>
            </a:pPr>
            <a:r>
              <a:t>Digital Signatures: Authenticity &amp; Non-Repudiation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A5276"/>
                </a:solidFill>
                <a:latin typeface="Calibri"/>
              </a:defRPr>
            </a:pPr>
            <a:r>
              <a:t>How Signatures Work (RSA-PSS)</a:t>
            </a:r>
          </a:p>
          <a:p>
            <a:pPr>
              <a:spcAft>
                <a:spcPts val="800"/>
              </a:spcAft>
              <a:defRPr sz="1300"/>
            </a:pPr>
            <a:r>
              <a:rPr>
                <a:solidFill>
                  <a:srgbClr val="2980B9"/>
                </a:solidFill>
              </a:rPr>
              <a:t>RSA-PSS (Probabilistic Signature Scheme): </a:t>
            </a:r>
            <a:r>
              <a:rPr>
                <a:solidFill>
                  <a:srgbClr val="282828"/>
                </a:solidFill>
              </a:rPr>
              <a:t>Advanced standard defined in PKCS #1 v2.2. Introduces a cryptographically secure random salt during hashing, ensuring unique signatures even for identical files.</a:t>
            </a:r>
          </a:p>
          <a:p>
            <a:pPr>
              <a:spcAft>
                <a:spcPts val="800"/>
              </a:spcAft>
              <a:defRPr sz="1300"/>
            </a:pPr>
            <a:r>
              <a:rPr>
                <a:solidFill>
                  <a:srgbClr val="2980B9"/>
                </a:solidFill>
              </a:rPr>
              <a:t>SHA-256 Pipeline: </a:t>
            </a:r>
            <a:r>
              <a:rPr>
                <a:solidFill>
                  <a:srgbClr val="282828"/>
                </a:solidFill>
              </a:rPr>
              <a:t>Calculates a secure 256-bit hash digest over the target file, which is then encrypted using the sender's private key.</a:t>
            </a:r>
          </a:p>
          <a:p>
            <a:pPr>
              <a:spcAft>
                <a:spcPts val="800"/>
              </a:spcAft>
              <a:defRPr sz="1300"/>
            </a:pPr>
            <a:r>
              <a:rPr>
                <a:solidFill>
                  <a:srgbClr val="2980B9"/>
                </a:solidFill>
              </a:rPr>
              <a:t>Verification Checks: </a:t>
            </a:r>
            <a:r>
              <a:rPr>
                <a:solidFill>
                  <a:srgbClr val="282828"/>
                </a:solidFill>
              </a:rPr>
              <a:t>Recipients decrypt the `.sig` companion block using the sender's public key and compare the dynamic file hash, verifying identity and absolute data integrity.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 bIns="274320" wrap="square"/>
          <a:lstStyle/>
          <a:p>
            <a:pPr algn="ctr">
              <a:spcAft>
                <a:spcPts val="1400"/>
              </a:spcAft>
              <a:defRPr sz="1600" b="1">
                <a:solidFill>
                  <a:srgbClr val="1A5276"/>
                </a:solidFill>
                <a:latin typeface="Calibri"/>
              </a:defRPr>
            </a:pPr>
            <a:r>
              <a:t>THE SECURITY POSTURE PROVEN</a:t>
            </a:r>
          </a:p>
          <a:p>
            <a:pPr>
              <a:spcAft>
                <a:spcPts val="800"/>
              </a:spcAft>
              <a:defRPr sz="1300"/>
            </a:pPr>
            <a:r>
              <a:rPr>
                <a:solidFill>
                  <a:srgbClr val="27AE60"/>
                </a:solidFill>
              </a:rPr>
              <a:t>✔ Verification Rigor: </a:t>
            </a:r>
            <a:r>
              <a:rPr>
                <a:solidFill>
                  <a:srgbClr val="282828"/>
                </a:solidFill>
              </a:rPr>
              <a:t>If even a single bit inside the payload or the `.sig` block is modified, modular verification fails and raises an InvalidSignature exception.</a:t>
            </a:r>
          </a:p>
          <a:p>
            <a:pPr>
              <a:spcAft>
                <a:spcPts val="800"/>
              </a:spcAft>
              <a:defRPr sz="1300"/>
            </a:pPr>
            <a:r>
              <a:rPr>
                <a:solidFill>
                  <a:srgbClr val="27AE60"/>
                </a:solidFill>
              </a:rPr>
              <a:t>✔ Absolute Non-Repudiation: </a:t>
            </a:r>
            <a:r>
              <a:rPr>
                <a:solidFill>
                  <a:srgbClr val="282828"/>
                </a:solidFill>
              </a:rPr>
              <a:t>Since the private key remains entirely under the owner's control, they cannot deny signing the document.</a:t>
            </a:r>
          </a:p>
          <a:p>
            <a:pPr>
              <a:spcAft>
                <a:spcPts val="800"/>
              </a:spcAft>
              <a:defRPr sz="1300"/>
            </a:pPr>
            <a:r>
              <a:rPr>
                <a:solidFill>
                  <a:srgbClr val="27AE60"/>
                </a:solidFill>
              </a:rPr>
              <a:t>✔ Mathematical Safety: </a:t>
            </a:r>
            <a:r>
              <a:rPr>
                <a:solidFill>
                  <a:srgbClr val="282828"/>
                </a:solidFill>
              </a:rPr>
              <a:t>Provably secure in the random oracle model, preventing chosen-message forging attacks.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A5276"/>
                </a:solidFill>
                <a:latin typeface="Calibri"/>
              </a:defRPr>
            </a:pPr>
            <a:r>
              <a:t>Multi-Factor Authentication &amp; Password Derivation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 bIns="274320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1A5276"/>
                </a:solidFill>
                <a:latin typeface="Calibri"/>
              </a:defRPr>
            </a:pPr>
            <a:r>
              <a:t>Time-Based MFA Vault (RFC 6238)</a:t>
            </a:r>
          </a:p>
          <a:p>
            <a:pPr>
              <a:spcAft>
                <a:spcPts val="600"/>
              </a:spcAft>
              <a:defRPr sz="1200"/>
            </a:pPr>
            <a:r>
              <a:rPr>
                <a:solidFill>
                  <a:srgbClr val="2980B9"/>
                </a:solidFill>
              </a:rPr>
              <a:t>Google Authenticator Pairing: </a:t>
            </a:r>
            <a:r>
              <a:rPr>
                <a:solidFill>
                  <a:srgbClr val="282828"/>
                </a:solidFill>
              </a:rPr>
              <a:t>Generates compliance Base32 seeds and dynamic QR codes for instant mobile synchronization.</a:t>
            </a:r>
          </a:p>
          <a:p>
            <a:pPr>
              <a:spcAft>
                <a:spcPts val="600"/>
              </a:spcAft>
              <a:defRPr sz="1200"/>
            </a:pPr>
            <a:r>
              <a:rPr>
                <a:solidFill>
                  <a:srgbClr val="2980B9"/>
                </a:solidFill>
              </a:rPr>
              <a:t>Dynamic Gating Keys: </a:t>
            </a:r>
            <a:r>
              <a:rPr>
                <a:solidFill>
                  <a:srgbClr val="282828"/>
                </a:solidFill>
              </a:rPr>
              <a:t>The vault stores a highly randomized 'Master Key' encrypted via TOTP credentials. Users must supply the current dynamic 6-digit MFA token to extract it.</a:t>
            </a:r>
          </a:p>
          <a:p>
            <a:pPr>
              <a:spcAft>
                <a:spcPts val="600"/>
              </a:spcAft>
              <a:defRPr sz="1200"/>
            </a:pPr>
            <a:r>
              <a:rPr>
                <a:solidFill>
                  <a:srgbClr val="2980B9"/>
                </a:solidFill>
              </a:rPr>
              <a:t>Grace Period Security: </a:t>
            </a:r>
            <a:r>
              <a:rPr>
                <a:solidFill>
                  <a:srgbClr val="282828"/>
                </a:solidFill>
              </a:rPr>
              <a:t>Provides time-offset validation windows to prevent minor clock skew synchronization failures.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 bIns="274320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1A5276"/>
                </a:solidFill>
                <a:latin typeface="Calibri"/>
              </a:defRPr>
            </a:pPr>
            <a:r>
              <a:t>Password Key Derivation (PBKDF2)</a:t>
            </a:r>
          </a:p>
          <a:p>
            <a:pPr>
              <a:spcAft>
                <a:spcPts val="600"/>
              </a:spcAft>
              <a:defRPr sz="1200"/>
            </a:pPr>
            <a:r>
              <a:rPr>
                <a:solidFill>
                  <a:srgbClr val="2980B9"/>
                </a:solidFill>
              </a:rPr>
              <a:t>Human Password Stretching: </a:t>
            </a:r>
            <a:r>
              <a:rPr>
                <a:solidFill>
                  <a:srgbClr val="282828"/>
                </a:solidFill>
              </a:rPr>
              <a:t>Human passwords are cryptographically weak. PBKDF2 stretches inputs using repeated SHA-256 HMAC iterations into strong 256-bit keys.</a:t>
            </a:r>
          </a:p>
          <a:p>
            <a:pPr>
              <a:spcAft>
                <a:spcPts val="600"/>
              </a:spcAft>
              <a:defRPr sz="1200"/>
            </a:pPr>
            <a:r>
              <a:rPr>
                <a:solidFill>
                  <a:srgbClr val="2980B9"/>
                </a:solidFill>
              </a:rPr>
              <a:t>50,000 Hashing Rounds: </a:t>
            </a:r>
            <a:r>
              <a:rPr>
                <a:solidFill>
                  <a:srgbClr val="282828"/>
                </a:solidFill>
              </a:rPr>
              <a:t>Significantly increases the hardware overhead and CPU cost required for local dictionary or GPU brute-force attacks.</a:t>
            </a:r>
          </a:p>
          <a:p>
            <a:pPr>
              <a:spcAft>
                <a:spcPts val="600"/>
              </a:spcAft>
              <a:defRPr sz="1200"/>
            </a:pPr>
            <a:r>
              <a:rPr>
                <a:solidFill>
                  <a:srgbClr val="2980B9"/>
                </a:solidFill>
              </a:rPr>
              <a:t>Random 16-byte Salt: </a:t>
            </a:r>
            <a:r>
              <a:rPr>
                <a:solidFill>
                  <a:srgbClr val="282828"/>
                </a:solidFill>
              </a:rPr>
              <a:t>Ensures identical passwords generate unique keys across sessions, neutralizing pre-calculated rainbow-table attacks.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A5276"/>
                </a:solidFill>
                <a:latin typeface="Calibri"/>
              </a:defRPr>
            </a:pPr>
            <a:r>
              <a:t>Correctness Verification &amp; Performance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A5276"/>
                </a:solidFill>
                <a:latin typeface="Calibri"/>
              </a:defRPr>
            </a:pPr>
            <a:r>
              <a:t>Verification Results</a:t>
            </a:r>
          </a:p>
          <a:p>
            <a:pPr>
              <a:spcAft>
                <a:spcPts val="800"/>
              </a:spcAft>
              <a:defRPr sz="1300"/>
            </a:pPr>
            <a:r>
              <a:rPr>
                <a:solidFill>
                  <a:srgbClr val="27AE60"/>
                </a:solidFill>
              </a:rPr>
              <a:t>✔ 100% Hash Consistency: </a:t>
            </a:r>
            <a:r>
              <a:rPr>
                <a:solidFill>
                  <a:srgbClr val="282828"/>
                </a:solidFill>
              </a:rPr>
              <a:t>Verified mathematically with test script. Post-decrypted file hashes exactly match pre-encrypted files, proving zero data loss.</a:t>
            </a:r>
          </a:p>
          <a:p>
            <a:pPr>
              <a:spcAft>
                <a:spcPts val="800"/>
              </a:spcAft>
              <a:defRPr sz="1300"/>
            </a:pPr>
            <a:r>
              <a:rPr>
                <a:solidFill>
                  <a:srgbClr val="27AE60"/>
                </a:solidFill>
              </a:rPr>
              <a:t>✔ Avalanche Effect Verified: </a:t>
            </a:r>
            <a:r>
              <a:rPr>
                <a:solidFill>
                  <a:srgbClr val="282828"/>
                </a:solidFill>
              </a:rPr>
              <a:t>Modifying a single character of input text completely randomizes the output hash, proving excellent diffusion properties.</a:t>
            </a:r>
          </a:p>
          <a:p>
            <a:pPr>
              <a:spcAft>
                <a:spcPts val="800"/>
              </a:spcAft>
              <a:defRPr sz="1300"/>
            </a:pPr>
            <a:r>
              <a:rPr>
                <a:solidFill>
                  <a:srgbClr val="27AE60"/>
                </a:solidFill>
              </a:rPr>
              <a:t>✔ Perfect Tag Enforcement: </a:t>
            </a:r>
            <a:r>
              <a:rPr>
                <a:solidFill>
                  <a:srgbClr val="282828"/>
                </a:solidFill>
              </a:rPr>
              <a:t>Attempting to decrypt altered, bit-flipped ciphertext immediately triggers validation failures and rejects extraction.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645920"/>
          <a:ext cx="53035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011680"/>
                <a:gridCol w="2011680"/>
              </a:tblGrid>
              <a:tr h="7680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File Size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RSA-2048 Direct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Hybrid Shield (RSA+AES)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100 Bytes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0.84 ms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1.20 ms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245 Bytes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FAILED (Over Size Limit)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1.31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10 MB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FAILED (Over Size Limit)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124.50 ms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100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FAILED (Over Size Limit)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1.15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A5276"/>
                </a:solidFill>
                <a:latin typeface="Calibri"/>
              </a:defRPr>
            </a:pPr>
            <a:r>
              <a:t>Security Audit: Attack Mitigation Mapping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572000"/>
              </a:tblGrid>
              <a:tr h="87782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Threat / Attack Vector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Technical Defense System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Security Assessment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Chosen-Ciphertext Attack (CCA2)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RSA-OAEP Padding with SHA-256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Mathematically secure. Prevents attackers from constructing valid ciphertexts to query decryption oracles.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Data Corruption / Bit Flipping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AES-256-GCM Galois Hashing Tag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Authenticated encryption automatically halts decryption and refuses to extract data if altered.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GPU Brute-Force / Rainbow Tables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50,000 Iteration Salted PBKDF2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Password stretching dramatically raises computing costs, preventing dictionary cracking.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Local Private Key Exposure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Host File Storage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Identified Vulnerability. Recommended mitigation: passphrases for keys or secure hardware TPM storage.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Conclusion &amp; Future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2980B9"/>
                </a:solidFill>
                <a:latin typeface="Calibri"/>
              </a:defRPr>
            </a:pPr>
            <a:r>
              <a:t>Key Academic and Technical Takeaways</a:t>
            </a:r>
          </a:p>
          <a:p>
            <a:pPr>
              <a:spcAft>
                <a:spcPts val="1000"/>
              </a:spcAft>
              <a:defRPr sz="1300"/>
            </a:pPr>
            <a:r>
              <a:rPr>
                <a:solidFill>
                  <a:srgbClr val="FFFFFF"/>
                </a:solidFill>
              </a:rPr>
              <a:t>✔ Hybrid Paradigm Feasibility: </a:t>
            </a:r>
            <a:r>
              <a:rPr>
                <a:solidFill>
                  <a:srgbClr val="F5F7FA"/>
                </a:solidFill>
              </a:rPr>
              <a:t>Proven to solve the classic Key Distribution Problem without experiencing the strict performance bottlenecks or payload size limitations of raw RSA.</a:t>
            </a:r>
          </a:p>
          <a:p>
            <a:pPr>
              <a:spcAft>
                <a:spcPts val="1000"/>
              </a:spcAft>
              <a:defRPr sz="1300"/>
            </a:pPr>
            <a:r>
              <a:rPr>
                <a:solidFill>
                  <a:srgbClr val="FFFFFF"/>
                </a:solidFill>
              </a:rPr>
              <a:t>✔ Commercial Grade Security Controls: </a:t>
            </a:r>
            <a:r>
              <a:rPr>
                <a:solidFill>
                  <a:srgbClr val="F5F7FA"/>
                </a:solidFill>
              </a:rPr>
              <a:t>Implements standard industry guidelines including GCM authentication, OAEP, PSS digital signatures, stretched KDF, and TOTP MFA vaults.</a:t>
            </a:r>
          </a:p>
          <a:p>
            <a:pPr>
              <a:spcAft>
                <a:spcPts val="1000"/>
              </a:spcAft>
              <a:defRPr sz="1300"/>
            </a:pPr>
            <a:r>
              <a:rPr>
                <a:solidFill>
                  <a:srgbClr val="FFFFFF"/>
                </a:solidFill>
              </a:rPr>
              <a:t>✔ Future Engineering Scope: </a:t>
            </a:r>
            <a:r>
              <a:rPr>
                <a:solidFill>
                  <a:srgbClr val="F5F7FA"/>
                </a:solidFill>
              </a:rPr>
              <a:t>Transition private keys into local TPM or YubiKey hardware vaults, introduce clock adjustment features for TOTP synchronization, and research post-quantum secure algorithms (e.g., Kyber, Dilithium) to defend against quantum decryption.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